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70" r:id="rId4"/>
    <p:sldId id="263" r:id="rId5"/>
    <p:sldId id="264" r:id="rId6"/>
    <p:sldId id="271" r:id="rId7"/>
    <p:sldId id="265" r:id="rId8"/>
    <p:sldId id="266" r:id="rId9"/>
    <p:sldId id="267" r:id="rId10"/>
    <p:sldId id="268" r:id="rId11"/>
    <p:sldId id="269" r:id="rId12"/>
  </p:sldIdLst>
  <p:sldSz cx="9144000" cy="5143500" type="screen16x9"/>
  <p:notesSz cx="6858000" cy="9144000"/>
  <p:embeddedFontLst>
    <p:embeddedFont>
      <p:font typeface="Poppins" panose="00000500000000000000" pitchFamily="2" charset="0"/>
      <p:regular r:id="rId14"/>
      <p:bold r:id="rId15"/>
      <p:italic r:id="rId16"/>
      <p:boldItalic r:id="rId17"/>
    </p:embeddedFont>
    <p:embeddedFont>
      <p:font typeface="Poppins SemiBold" panose="00000700000000000000" pitchFamily="2" charset="0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3" roundtripDataSignature="AMtx7mjVdrDcdfEWB3ZzYMVTF/2iD1Dky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6170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061" autoAdjust="0"/>
  </p:normalViewPr>
  <p:slideViewPr>
    <p:cSldViewPr snapToGrid="0">
      <p:cViewPr varScale="1">
        <p:scale>
          <a:sx n="92" d="100"/>
          <a:sy n="92" d="100"/>
        </p:scale>
        <p:origin x="756" y="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" name="Google Shape;4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" name="Google Shape;4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">
          <a:extLst>
            <a:ext uri="{FF2B5EF4-FFF2-40B4-BE49-F238E27FC236}">
              <a16:creationId xmlns:a16="http://schemas.microsoft.com/office/drawing/2014/main" id="{794339C1-A315-E611-2C91-F71AB26246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:notes">
            <a:extLst>
              <a:ext uri="{FF2B5EF4-FFF2-40B4-BE49-F238E27FC236}">
                <a16:creationId xmlns:a16="http://schemas.microsoft.com/office/drawing/2014/main" id="{F5582D46-23CC-C98D-6518-A960CA45136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" name="Google Shape;49;p2:notes">
            <a:extLst>
              <a:ext uri="{FF2B5EF4-FFF2-40B4-BE49-F238E27FC236}">
                <a16:creationId xmlns:a16="http://schemas.microsoft.com/office/drawing/2014/main" id="{43D5D27C-09AC-78C5-921D-ED71AEEAE8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487159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"/>
          <p:cNvSpPr txBox="1">
            <a:spLocks noGrp="1"/>
          </p:cNvSpPr>
          <p:nvPr>
            <p:ph type="ctrTitle"/>
          </p:nvPr>
        </p:nvSpPr>
        <p:spPr>
          <a:xfrm>
            <a:off x="215700" y="859800"/>
            <a:ext cx="4020300" cy="24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9pPr>
          </a:lstStyle>
          <a:p>
            <a:endParaRPr/>
          </a:p>
        </p:txBody>
      </p:sp>
      <p:sp>
        <p:nvSpPr>
          <p:cNvPr id="11" name="Google Shape;11;p7"/>
          <p:cNvSpPr txBox="1">
            <a:spLocks noGrp="1"/>
          </p:cNvSpPr>
          <p:nvPr>
            <p:ph type="subTitle" idx="1"/>
          </p:nvPr>
        </p:nvSpPr>
        <p:spPr>
          <a:xfrm>
            <a:off x="215700" y="4107600"/>
            <a:ext cx="4248300" cy="5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9pPr>
          </a:lstStyle>
          <a:p>
            <a:endParaRPr/>
          </a:p>
        </p:txBody>
      </p:sp>
      <p:sp>
        <p:nvSpPr>
          <p:cNvPr id="12" name="Google Shape;12;p7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8"/>
          <p:cNvSpPr txBox="1">
            <a:spLocks noGrp="1"/>
          </p:cNvSpPr>
          <p:nvPr>
            <p:ph type="title"/>
          </p:nvPr>
        </p:nvSpPr>
        <p:spPr>
          <a:xfrm>
            <a:off x="1080000" y="1958850"/>
            <a:ext cx="69840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15" name="Google Shape;15;p8"/>
          <p:cNvSpPr txBox="1">
            <a:spLocks noGrp="1"/>
          </p:cNvSpPr>
          <p:nvPr>
            <p:ph type="sldNum" idx="12"/>
          </p:nvPr>
        </p:nvSpPr>
        <p:spPr>
          <a:xfrm>
            <a:off x="8472458" y="48156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D606D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D606D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D606D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D606D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D606D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D606D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D606D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D606D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D606D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2"/>
          <p:cNvSpPr txBox="1">
            <a:spLocks noGrp="1"/>
          </p:cNvSpPr>
          <p:nvPr>
            <p:ph type="title"/>
          </p:nvPr>
        </p:nvSpPr>
        <p:spPr>
          <a:xfrm>
            <a:off x="311700" y="579775"/>
            <a:ext cx="5484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12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p12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3"/>
          <p:cNvSpPr txBox="1">
            <a:spLocks noGrp="1"/>
          </p:cNvSpPr>
          <p:nvPr>
            <p:ph type="title"/>
          </p:nvPr>
        </p:nvSpPr>
        <p:spPr>
          <a:xfrm>
            <a:off x="1829850" y="2065025"/>
            <a:ext cx="5484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3" name="Google Shape;33;p13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4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6" name="Google Shape;36;p14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5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39" name="Google Shape;39;p15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D606D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D606D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D606D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D606D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D606D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D606D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D606D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D606D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D606D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9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 txBox="1">
            <a:spLocks noGrp="1"/>
          </p:cNvSpPr>
          <p:nvPr>
            <p:ph type="title"/>
          </p:nvPr>
        </p:nvSpPr>
        <p:spPr>
          <a:xfrm>
            <a:off x="311700" y="579775"/>
            <a:ext cx="5484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AA5E"/>
              </a:buClr>
              <a:buSzPts val="2800"/>
              <a:buFont typeface="Poppins"/>
              <a:buNone/>
              <a:defRPr sz="2800" b="1" i="0" u="none" strike="noStrike" cap="none">
                <a:solidFill>
                  <a:srgbClr val="52AA5E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6"/>
          <p:cNvSpPr txBox="1">
            <a:spLocks noGrp="1"/>
          </p:cNvSpPr>
          <p:nvPr>
            <p:ph type="body" idx="1"/>
          </p:nvPr>
        </p:nvSpPr>
        <p:spPr>
          <a:xfrm>
            <a:off x="311700" y="1355375"/>
            <a:ext cx="8520600" cy="30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Poppins SemiBold"/>
              <a:buChar char="●"/>
              <a:defRPr sz="18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8" name="Google Shape;8;p6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3" r:id="rId3"/>
    <p:sldLayoutId id="2147483654" r:id="rId4"/>
    <p:sldLayoutId id="2147483655" r:id="rId5"/>
    <p:sldLayoutId id="2147483656" r:id="rId6"/>
    <p:sldLayoutId id="2147483657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package" Target="../embeddings/Microsoft_Excel_Worksheet.xlsx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mailto:gulangyudha@gmail.com" TargetMode="Externa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"/>
          <p:cNvSpPr txBox="1"/>
          <p:nvPr/>
        </p:nvSpPr>
        <p:spPr>
          <a:xfrm>
            <a:off x="443700" y="408108"/>
            <a:ext cx="4020300" cy="24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Comprehensive Sales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Dashboard: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Regional, Product, and Holiday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Insights - </a:t>
            </a:r>
            <a:r>
              <a:rPr lang="en-US" sz="1800" b="1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DQFashion</a:t>
            </a:r>
            <a:r>
              <a:rPr lang="en-US" sz="18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2020</a:t>
            </a:r>
            <a:endParaRPr sz="1800" b="1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5" name="Google Shape;45;p1"/>
          <p:cNvSpPr txBox="1"/>
          <p:nvPr/>
        </p:nvSpPr>
        <p:spPr>
          <a:xfrm>
            <a:off x="215700" y="4443675"/>
            <a:ext cx="4248300" cy="5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1900" dirty="0">
                <a:solidFill>
                  <a:srgbClr val="21212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Gulang Taufiqurrohman KYP</a:t>
            </a:r>
            <a:r>
              <a:rPr lang="en-US" sz="1900">
                <a:solidFill>
                  <a:srgbClr val="21212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</a:t>
            </a:r>
            <a:endParaRPr lang="id-ID" sz="1900" dirty="0">
              <a:solidFill>
                <a:srgbClr val="21212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46" name="Google Shape;46;p1"/>
          <p:cNvSpPr txBox="1"/>
          <p:nvPr/>
        </p:nvSpPr>
        <p:spPr>
          <a:xfrm>
            <a:off x="215700" y="3852975"/>
            <a:ext cx="4248300" cy="5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85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dirty="0">
                <a:solidFill>
                  <a:srgbClr val="21212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Final Project Bootcamp Data Analyst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dirty="0">
                <a:solidFill>
                  <a:srgbClr val="21212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Gulang Taufiqurrohman KYP</a:t>
            </a:r>
            <a:endParaRPr sz="1900" dirty="0">
              <a:solidFill>
                <a:srgbClr val="21212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"/>
          <p:cNvSpPr txBox="1">
            <a:spLocks noGrp="1"/>
          </p:cNvSpPr>
          <p:nvPr>
            <p:ph type="title"/>
          </p:nvPr>
        </p:nvSpPr>
        <p:spPr>
          <a:xfrm>
            <a:off x="1080000" y="480330"/>
            <a:ext cx="6984000" cy="4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Overview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Dqlab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Fashion</a:t>
            </a:r>
            <a:endParaRPr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3817DE-654E-ADA7-FFD2-D2BC791986E8}"/>
              </a:ext>
            </a:extLst>
          </p:cNvPr>
          <p:cNvSpPr txBox="1"/>
          <p:nvPr/>
        </p:nvSpPr>
        <p:spPr>
          <a:xfrm>
            <a:off x="1080000" y="1280665"/>
            <a:ext cx="7523826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1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DQFashion</a:t>
            </a:r>
            <a:r>
              <a:rPr lang="id-ID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adalah </a:t>
            </a:r>
            <a:r>
              <a:rPr lang="id-ID" sz="1600" i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startup</a:t>
            </a:r>
            <a:r>
              <a:rPr lang="id-ID" sz="16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d-ID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ritel </a:t>
            </a:r>
            <a:r>
              <a:rPr lang="id-ID" sz="1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fesyen</a:t>
            </a:r>
            <a:r>
              <a:rPr lang="id-ID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Indonesia yang </a:t>
            </a:r>
            <a:r>
              <a:rPr lang="en-US" sz="1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fokus</a:t>
            </a:r>
            <a:r>
              <a:rPr lang="id-ID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dalam </a:t>
            </a:r>
            <a:r>
              <a:rPr lang="id-ID" sz="16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e-</a:t>
            </a:r>
            <a:r>
              <a:rPr lang="id-ID" sz="1600" i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commerce</a:t>
            </a:r>
            <a:r>
              <a:rPr lang="id-ID" sz="16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id-ID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Platform ini berfokus pada penjualan beragam produk </a:t>
            </a:r>
            <a:r>
              <a:rPr lang="id-ID" sz="1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fesyen</a:t>
            </a:r>
            <a:r>
              <a:rPr lang="id-ID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dari merek-merek lokal ternama, menawarkan pakaian, sepatu, aksesori, dan berbagai produk </a:t>
            </a:r>
            <a:r>
              <a:rPr lang="id-ID" sz="1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fesyen</a:t>
            </a:r>
            <a:r>
              <a:rPr lang="id-ID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lainnya kepada konsumen di seluruh Indonesia.</a:t>
            </a:r>
            <a:endParaRPr lang="en-US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id-ID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Pada tahun 20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r>
              <a:rPr lang="id-ID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id-ID" sz="1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DQFashion</a:t>
            </a:r>
            <a:r>
              <a:rPr lang="id-ID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memiliki empat cabang di Indonesia, yang berlokasi di 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Yogyakarta, Semarang, Jakarta, Bandung</a:t>
            </a:r>
            <a:r>
              <a:rPr lang="id-ID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id-ID" sz="1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DQFashion</a:t>
            </a:r>
            <a:r>
              <a:rPr lang="id-ID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juga berhasil menjual produk di 5 kategori, dengan 25 jenis produk yang berbeda.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">
          <a:extLst>
            <a:ext uri="{FF2B5EF4-FFF2-40B4-BE49-F238E27FC236}">
              <a16:creationId xmlns:a16="http://schemas.microsoft.com/office/drawing/2014/main" id="{3CA298C4-4FEE-B1A8-4E12-5FB4258B58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">
            <a:extLst>
              <a:ext uri="{FF2B5EF4-FFF2-40B4-BE49-F238E27FC236}">
                <a16:creationId xmlns:a16="http://schemas.microsoft.com/office/drawing/2014/main" id="{A43CB8EC-0131-5DBA-10B7-0E06340DFAC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80000" y="480330"/>
            <a:ext cx="6984000" cy="4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Latar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Belakang</a:t>
            </a:r>
            <a:endParaRPr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939C9E-65C5-0CDD-5AF2-FF745BFE112D}"/>
              </a:ext>
            </a:extLst>
          </p:cNvPr>
          <p:cNvSpPr txBox="1"/>
          <p:nvPr/>
        </p:nvSpPr>
        <p:spPr>
          <a:xfrm>
            <a:off x="1080000" y="1622188"/>
            <a:ext cx="752382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Menjelang akhir tahun, tim </a:t>
            </a:r>
            <a:r>
              <a:rPr lang="id-ID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DQFashion</a:t>
            </a:r>
            <a:r>
              <a:rPr lang="id-ID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akan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mengeluarkan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data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penjualan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selama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tahun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2020</a:t>
            </a:r>
            <a:r>
              <a:rPr lang="id-ID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yang dibangun berdasarkan 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penjualan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d-ID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awal tahun. Target penjualan periode sebelumnya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d-ID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tidak tercapai karena analisis data yang tidak memadai, sehingga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d-ID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hasilnya kurang optimal. Untuk mengatasi hal ini, Tim Data </a:t>
            </a:r>
            <a:r>
              <a:rPr lang="id-ID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DQFashion</a:t>
            </a:r>
            <a:r>
              <a:rPr lang="id-ID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akan</a:t>
            </a:r>
          </a:p>
          <a:p>
            <a:pPr algn="ctr"/>
            <a:r>
              <a:rPr lang="id-ID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menganalisis data tahun ini untuk mendukung tim pemasaran dalam mencapai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d-ID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hasil penjualan yang lebih baik di tahun mendatang.</a:t>
            </a:r>
          </a:p>
        </p:txBody>
      </p:sp>
    </p:spTree>
    <p:extLst>
      <p:ext uri="{BB962C8B-B14F-4D97-AF65-F5344CB8AC3E}">
        <p14:creationId xmlns:p14="http://schemas.microsoft.com/office/powerpoint/2010/main" val="38175459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screenshot of a computer&#10;&#10;Description automatically generated">
            <a:extLst>
              <a:ext uri="{FF2B5EF4-FFF2-40B4-BE49-F238E27FC236}">
                <a16:creationId xmlns:a16="http://schemas.microsoft.com/office/drawing/2014/main" id="{05180CA4-CE91-F4E2-AC4C-CF3C7367BD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5240" y="547700"/>
            <a:ext cx="6907575" cy="3991248"/>
          </a:xfrm>
          <a:prstGeom prst="rect">
            <a:avLst/>
          </a:prstGeom>
        </p:spPr>
      </p:pic>
      <p:sp>
        <p:nvSpPr>
          <p:cNvPr id="15" name="Title 14">
            <a:extLst>
              <a:ext uri="{FF2B5EF4-FFF2-40B4-BE49-F238E27FC236}">
                <a16:creationId xmlns:a16="http://schemas.microsoft.com/office/drawing/2014/main" id="{AD58888C-6347-F3A6-4316-39F716215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185" y="1638370"/>
            <a:ext cx="2148289" cy="1809909"/>
          </a:xfrm>
        </p:spPr>
        <p:txBody>
          <a:bodyPr>
            <a:normAutofit/>
          </a:bodyPr>
          <a:lstStyle/>
          <a:p>
            <a:pPr algn="l"/>
            <a:r>
              <a:rPr lang="id-ID" sz="1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  <a:r>
              <a:rPr lang="id-ID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terdiri dari 4 tabel master/</a:t>
            </a:r>
            <a:r>
              <a:rPr lang="id-ID" sz="1400" b="0" dirty="0" err="1">
                <a:latin typeface="+mj-lt"/>
                <a:cs typeface="Times New Roman" panose="02020603050405020304" pitchFamily="18" charset="0"/>
              </a:rPr>
              <a:t>lookup</a:t>
            </a:r>
            <a:r>
              <a:rPr lang="id-ID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dan 1 tabel data yaitu : </a:t>
            </a:r>
            <a:br>
              <a:rPr lang="en-US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id-ID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Master Cabang, </a:t>
            </a:r>
            <a:br>
              <a:rPr lang="en-US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id-ID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Master Produk, </a:t>
            </a:r>
            <a:br>
              <a:rPr lang="en-US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id-ID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Kategori,</a:t>
            </a:r>
            <a:br>
              <a:rPr lang="en-US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id-ID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Transaksi Penjualan</a:t>
            </a:r>
            <a:r>
              <a:rPr lang="id-ID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720A2DA-A303-4C86-1688-1F25E6C700A4}"/>
              </a:ext>
            </a:extLst>
          </p:cNvPr>
          <p:cNvSpPr txBox="1"/>
          <p:nvPr/>
        </p:nvSpPr>
        <p:spPr>
          <a:xfrm>
            <a:off x="3437262" y="0"/>
            <a:ext cx="274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highlight>
                  <a:srgbClr val="C0C0C0"/>
                </a:highlight>
              </a:rPr>
              <a:t>Data Source</a:t>
            </a:r>
            <a:endParaRPr lang="id-ID" sz="1800" dirty="0">
              <a:highlight>
                <a:srgbClr val="C0C0C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2973395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206659-9FFC-73BD-4887-E34B4ACC37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72600" y="77648"/>
            <a:ext cx="5998800" cy="605100"/>
          </a:xfrm>
        </p:spPr>
        <p:txBody>
          <a:bodyPr/>
          <a:lstStyle/>
          <a:p>
            <a:pPr algn="ctr"/>
            <a:r>
              <a:rPr lang="en-US" dirty="0" err="1"/>
              <a:t>Perfoma</a:t>
            </a:r>
            <a:r>
              <a:rPr lang="en-US" dirty="0"/>
              <a:t> </a:t>
            </a:r>
            <a:r>
              <a:rPr lang="en-US" dirty="0" err="1"/>
              <a:t>Penjualan</a:t>
            </a:r>
            <a:r>
              <a:rPr lang="en-US" dirty="0"/>
              <a:t> </a:t>
            </a:r>
            <a:r>
              <a:rPr lang="en-US" dirty="0" err="1"/>
              <a:t>Tahun</a:t>
            </a:r>
            <a:r>
              <a:rPr lang="en-US" dirty="0"/>
              <a:t> 2020</a:t>
            </a:r>
            <a:endParaRPr lang="id-ID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D99E250-813C-48E5-994B-B74E3AE41C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202" y="2395480"/>
            <a:ext cx="9011798" cy="257175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F63C003-9066-D83F-38BA-B8D8FA0843BD}"/>
              </a:ext>
            </a:extLst>
          </p:cNvPr>
          <p:cNvSpPr txBox="1"/>
          <p:nvPr/>
        </p:nvSpPr>
        <p:spPr>
          <a:xfrm>
            <a:off x="237394" y="1648075"/>
            <a:ext cx="8174516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d-ID" sz="1200" dirty="0">
                <a:solidFill>
                  <a:srgbClr val="92D050"/>
                </a:solidFill>
              </a:rPr>
              <a:t>Pada tahun 20</a:t>
            </a:r>
            <a:r>
              <a:rPr lang="en-US" sz="1200" dirty="0">
                <a:solidFill>
                  <a:srgbClr val="92D050"/>
                </a:solidFill>
              </a:rPr>
              <a:t>20</a:t>
            </a:r>
            <a:r>
              <a:rPr lang="id-ID" sz="1200" dirty="0">
                <a:solidFill>
                  <a:srgbClr val="92D050"/>
                </a:solidFill>
              </a:rPr>
              <a:t>, </a:t>
            </a:r>
            <a:r>
              <a:rPr lang="id-ID" sz="1200" dirty="0" err="1">
                <a:solidFill>
                  <a:srgbClr val="92D050"/>
                </a:solidFill>
              </a:rPr>
              <a:t>DQFashion</a:t>
            </a:r>
            <a:r>
              <a:rPr lang="id-ID" sz="1200" dirty="0">
                <a:solidFill>
                  <a:srgbClr val="92D050"/>
                </a:solidFill>
              </a:rPr>
              <a:t> berhasil menjual 2</a:t>
            </a:r>
            <a:r>
              <a:rPr lang="en-US" sz="1200" dirty="0">
                <a:solidFill>
                  <a:srgbClr val="92D050"/>
                </a:solidFill>
              </a:rPr>
              <a:t>76.521</a:t>
            </a:r>
            <a:r>
              <a:rPr lang="id-ID" sz="1200" dirty="0">
                <a:solidFill>
                  <a:srgbClr val="92D050"/>
                </a:solidFill>
              </a:rPr>
              <a:t> produk di 5 kategori dan 25 jenis produk.</a:t>
            </a:r>
            <a:endParaRPr lang="en-US" sz="1200" dirty="0">
              <a:solidFill>
                <a:srgbClr val="92D05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d-ID" sz="1200" dirty="0">
                <a:solidFill>
                  <a:srgbClr val="92D050"/>
                </a:solidFill>
              </a:rPr>
              <a:t>Penjualan mencapai 6</a:t>
            </a:r>
            <a:r>
              <a:rPr lang="en-US" sz="1200" dirty="0">
                <a:solidFill>
                  <a:srgbClr val="92D050"/>
                </a:solidFill>
              </a:rPr>
              <a:t>7</a:t>
            </a:r>
            <a:r>
              <a:rPr lang="id-ID" sz="1200" dirty="0">
                <a:solidFill>
                  <a:srgbClr val="92D050"/>
                </a:solidFill>
              </a:rPr>
              <a:t> Miliar, didistribusikan di 4 lokasi/cabang di Indonesia </a:t>
            </a:r>
            <a:endParaRPr lang="en-US" sz="1200" dirty="0">
              <a:solidFill>
                <a:srgbClr val="92D05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d-ID" sz="1200" dirty="0" err="1">
                <a:solidFill>
                  <a:srgbClr val="92D050"/>
                </a:solidFill>
              </a:rPr>
              <a:t>DQFashion</a:t>
            </a:r>
            <a:r>
              <a:rPr lang="id-ID" sz="1200" dirty="0">
                <a:solidFill>
                  <a:srgbClr val="92D050"/>
                </a:solidFill>
              </a:rPr>
              <a:t> menjual 25 produk berikut</a:t>
            </a:r>
            <a:r>
              <a:rPr lang="id-ID" dirty="0">
                <a:solidFill>
                  <a:srgbClr val="92D050"/>
                </a:solidFill>
              </a:rPr>
              <a:t>: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5DA2C522-482F-4E42-92FE-413061DBF2B6}"/>
              </a:ext>
            </a:extLst>
          </p:cNvPr>
          <p:cNvSpPr/>
          <p:nvPr/>
        </p:nvSpPr>
        <p:spPr>
          <a:xfrm>
            <a:off x="815663" y="701797"/>
            <a:ext cx="1869640" cy="837184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75333C-591B-427F-6725-B0634A67104C}"/>
              </a:ext>
            </a:extLst>
          </p:cNvPr>
          <p:cNvSpPr txBox="1"/>
          <p:nvPr/>
        </p:nvSpPr>
        <p:spPr>
          <a:xfrm>
            <a:off x="742927" y="881632"/>
            <a:ext cx="18696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1200" dirty="0"/>
              <a:t>276.521 </a:t>
            </a:r>
          </a:p>
          <a:p>
            <a:pPr algn="ctr"/>
            <a:r>
              <a:rPr lang="id-ID" sz="1200" dirty="0"/>
              <a:t>Jumlah Terjual (</a:t>
            </a:r>
            <a:r>
              <a:rPr lang="id-ID" sz="1200" dirty="0" err="1"/>
              <a:t>Sales</a:t>
            </a:r>
            <a:endParaRPr lang="id-ID" sz="12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317A876-845B-C0DF-A027-5AE6E2FAAB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6471" y="673274"/>
            <a:ext cx="1896020" cy="86570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27CD269-1063-F85C-7CA8-6132033505C1}"/>
              </a:ext>
            </a:extLst>
          </p:cNvPr>
          <p:cNvSpPr txBox="1"/>
          <p:nvPr/>
        </p:nvSpPr>
        <p:spPr>
          <a:xfrm>
            <a:off x="3564221" y="870898"/>
            <a:ext cx="13005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1200" dirty="0"/>
              <a:t>67.566.684.000</a:t>
            </a:r>
          </a:p>
          <a:p>
            <a:pPr algn="ctr"/>
            <a:r>
              <a:rPr lang="id-ID" sz="1200" dirty="0" err="1"/>
              <a:t>Revenue</a:t>
            </a:r>
            <a:r>
              <a:rPr lang="id-ID" sz="12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180194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1A8DE8-0883-D74F-9E06-D5D9E97139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6BDB8D9-56CB-E2B7-BB0B-FFF469A4A9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9850" y="103909"/>
            <a:ext cx="5484300" cy="27293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1200" dirty="0"/>
              <a:t>Dashboard </a:t>
            </a:r>
            <a:r>
              <a:rPr lang="en-US" sz="1200" dirty="0" err="1"/>
              <a:t>DQFashion</a:t>
            </a:r>
            <a:r>
              <a:rPr lang="en-US" sz="1200" dirty="0"/>
              <a:t> 2020</a:t>
            </a:r>
            <a:endParaRPr lang="id-ID" sz="1200" dirty="0"/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6D90C2E0-A602-F9FD-1CF6-26966E95240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42078304"/>
              </p:ext>
            </p:extLst>
          </p:nvPr>
        </p:nvGraphicFramePr>
        <p:xfrm>
          <a:off x="0" y="376839"/>
          <a:ext cx="9580418" cy="45616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14030146" imgH="7820076" progId="Excel.Sheet.12">
                  <p:embed/>
                </p:oleObj>
              </mc:Choice>
              <mc:Fallback>
                <p:oleObj name="Worksheet" r:id="rId2" imgW="14030146" imgH="7820076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0" y="376839"/>
                        <a:ext cx="9580418" cy="456160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137603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174552-9F3A-D512-24CE-7C4850EA2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ADE888-DC86-E395-DEB9-D0AC5D2804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02370" y="117395"/>
            <a:ext cx="5998800" cy="605100"/>
          </a:xfrm>
        </p:spPr>
        <p:txBody>
          <a:bodyPr/>
          <a:lstStyle/>
          <a:p>
            <a:pPr algn="ctr"/>
            <a:r>
              <a:rPr lang="en-US" dirty="0" err="1"/>
              <a:t>Perfoma</a:t>
            </a:r>
            <a:r>
              <a:rPr lang="en-US" dirty="0"/>
              <a:t> </a:t>
            </a:r>
            <a:r>
              <a:rPr lang="en-US" dirty="0" err="1"/>
              <a:t>Penjualan</a:t>
            </a:r>
            <a:r>
              <a:rPr lang="en-US" dirty="0"/>
              <a:t> Regional &amp; </a:t>
            </a:r>
            <a:r>
              <a:rPr lang="en-US" dirty="0" err="1"/>
              <a:t>Kategori</a:t>
            </a:r>
            <a:r>
              <a:rPr lang="en-US" dirty="0"/>
              <a:t> </a:t>
            </a:r>
            <a:r>
              <a:rPr lang="en-US" dirty="0" err="1"/>
              <a:t>Produk</a:t>
            </a:r>
            <a:endParaRPr lang="id-ID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0CE8430-7162-840F-0855-F8B38D6FC2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7258" y="747275"/>
            <a:ext cx="4591196" cy="2198381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39EBE36-7DCC-9952-5B89-E5104BB1D752}"/>
              </a:ext>
            </a:extLst>
          </p:cNvPr>
          <p:cNvSpPr/>
          <p:nvPr/>
        </p:nvSpPr>
        <p:spPr>
          <a:xfrm>
            <a:off x="4485908" y="3205943"/>
            <a:ext cx="4327585" cy="1556093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6E8B0C8-831B-7FF5-63AB-A816BB3B1C37}"/>
              </a:ext>
            </a:extLst>
          </p:cNvPr>
          <p:cNvSpPr txBox="1"/>
          <p:nvPr/>
        </p:nvSpPr>
        <p:spPr>
          <a:xfrm>
            <a:off x="4675909" y="3383824"/>
            <a:ext cx="365346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1200" dirty="0"/>
              <a:t>Berdasarkan data penjualan berdasarkan lokasi,</a:t>
            </a:r>
          </a:p>
          <a:p>
            <a:r>
              <a:rPr lang="id-ID" sz="1200" dirty="0"/>
              <a:t>penjualan produk </a:t>
            </a:r>
            <a:r>
              <a:rPr lang="id-ID" sz="1200" dirty="0" err="1"/>
              <a:t>DQFashion</a:t>
            </a:r>
            <a:r>
              <a:rPr lang="id-ID" sz="1200" dirty="0"/>
              <a:t> tertinggi</a:t>
            </a:r>
          </a:p>
          <a:p>
            <a:r>
              <a:rPr lang="id-ID" sz="1200" dirty="0"/>
              <a:t>berada di </a:t>
            </a:r>
            <a:r>
              <a:rPr lang="en-US" sz="1200" dirty="0"/>
              <a:t>Yogyakarta</a:t>
            </a:r>
            <a:r>
              <a:rPr lang="id-ID" sz="1200" dirty="0"/>
              <a:t>, sementara penjualan terendah</a:t>
            </a:r>
          </a:p>
          <a:p>
            <a:r>
              <a:rPr lang="id-ID" sz="1200" dirty="0"/>
              <a:t>berada di </a:t>
            </a:r>
            <a:r>
              <a:rPr lang="en-US" sz="1200" dirty="0"/>
              <a:t>Bandung</a:t>
            </a:r>
            <a:r>
              <a:rPr lang="id-ID" sz="1200" dirty="0"/>
              <a:t>. Namun, pendapatannya tetap</a:t>
            </a:r>
          </a:p>
          <a:p>
            <a:r>
              <a:rPr lang="id-ID" sz="1200" dirty="0"/>
              <a:t>proporsional untuk setiap lokasi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2D8E634-7E0C-8154-5949-9B6B75ACEF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89602"/>
            <a:ext cx="3977089" cy="1944793"/>
          </a:xfrm>
          <a:prstGeom prst="rect">
            <a:avLst/>
          </a:prstGeom>
        </p:spPr>
      </p:pic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A8CAED5-091E-92DA-D669-7DA27865AE7C}"/>
              </a:ext>
            </a:extLst>
          </p:cNvPr>
          <p:cNvSpPr/>
          <p:nvPr/>
        </p:nvSpPr>
        <p:spPr>
          <a:xfrm>
            <a:off x="88134" y="2868610"/>
            <a:ext cx="3514382" cy="1893426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61C5EC6-1244-95FA-00E4-780CAF15C217}"/>
              </a:ext>
            </a:extLst>
          </p:cNvPr>
          <p:cNvSpPr txBox="1"/>
          <p:nvPr/>
        </p:nvSpPr>
        <p:spPr>
          <a:xfrm>
            <a:off x="203811" y="2945656"/>
            <a:ext cx="328302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1200" dirty="0"/>
              <a:t>Berdasarkan kategori produk, kategori terlaris adalah</a:t>
            </a:r>
          </a:p>
          <a:p>
            <a:r>
              <a:rPr lang="id-ID" sz="1200" dirty="0"/>
              <a:t>Gaun, dengan total pendapatan sebesar </a:t>
            </a:r>
            <a:r>
              <a:rPr lang="en-US" sz="1200" dirty="0"/>
              <a:t>22</a:t>
            </a:r>
            <a:r>
              <a:rPr lang="id-ID" sz="1200" dirty="0"/>
              <a:t> Miliar.</a:t>
            </a:r>
          </a:p>
          <a:p>
            <a:r>
              <a:rPr lang="id-ID" sz="1200" dirty="0"/>
              <a:t>Kategori dengan kinerja terendah adalah Aksesori, dengan pendapatan sebesar</a:t>
            </a:r>
          </a:p>
          <a:p>
            <a:r>
              <a:rPr lang="id-ID" sz="1200" dirty="0"/>
              <a:t>5,5 Miliar. Oleh karena itu, penjualan produk dalam kategori Aksesori perlu dievaluasi.</a:t>
            </a:r>
          </a:p>
        </p:txBody>
      </p:sp>
    </p:spTree>
    <p:extLst>
      <p:ext uri="{BB962C8B-B14F-4D97-AF65-F5344CB8AC3E}">
        <p14:creationId xmlns:p14="http://schemas.microsoft.com/office/powerpoint/2010/main" val="14333778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DBB842-FCAE-EDEE-D8C4-FF95F793BC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C32111-AE1C-B440-33BD-FE8C30D9C7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15083" y="55182"/>
            <a:ext cx="5998800" cy="264307"/>
          </a:xfrm>
        </p:spPr>
        <p:txBody>
          <a:bodyPr>
            <a:noAutofit/>
          </a:bodyPr>
          <a:lstStyle/>
          <a:p>
            <a:pPr algn="ctr"/>
            <a:r>
              <a:rPr lang="en-US" sz="1200" dirty="0" err="1"/>
              <a:t>Perfoma</a:t>
            </a:r>
            <a:r>
              <a:rPr lang="en-US" sz="1200" dirty="0"/>
              <a:t> </a:t>
            </a:r>
            <a:r>
              <a:rPr lang="en-US" sz="1200" dirty="0" err="1"/>
              <a:t>Penjualan</a:t>
            </a:r>
            <a:r>
              <a:rPr lang="en-US" sz="1200" dirty="0"/>
              <a:t> </a:t>
            </a:r>
            <a:r>
              <a:rPr lang="en-US" sz="1200" dirty="0" err="1"/>
              <a:t>Tertinggi</a:t>
            </a:r>
            <a:r>
              <a:rPr lang="en-US" sz="1200" dirty="0"/>
              <a:t> dan </a:t>
            </a:r>
            <a:r>
              <a:rPr lang="en-US" sz="1200" dirty="0" err="1"/>
              <a:t>Terbawah</a:t>
            </a:r>
            <a:endParaRPr lang="id-ID" sz="1200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DF13050-78CD-6539-8410-74E9CC2ADA2F}"/>
              </a:ext>
            </a:extLst>
          </p:cNvPr>
          <p:cNvSpPr/>
          <p:nvPr/>
        </p:nvSpPr>
        <p:spPr>
          <a:xfrm>
            <a:off x="550366" y="4011466"/>
            <a:ext cx="8043267" cy="790072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FBFCFDE-6B09-7D32-9AE7-0BD7CAEA87A3}"/>
              </a:ext>
            </a:extLst>
          </p:cNvPr>
          <p:cNvSpPr txBox="1"/>
          <p:nvPr/>
        </p:nvSpPr>
        <p:spPr>
          <a:xfrm>
            <a:off x="88135" y="3698297"/>
            <a:ext cx="32830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1200" dirty="0"/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9007595-31CE-0CBD-84BA-228A311E96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35" y="472273"/>
            <a:ext cx="5045725" cy="337261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6478F9C-76F6-87DB-336F-A98F21DD5B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3860" y="537476"/>
            <a:ext cx="3700593" cy="337261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30E5A41-D7D6-190E-6EDE-3BF2C46F9719}"/>
              </a:ext>
            </a:extLst>
          </p:cNvPr>
          <p:cNvSpPr txBox="1"/>
          <p:nvPr/>
        </p:nvSpPr>
        <p:spPr>
          <a:xfrm>
            <a:off x="892844" y="4062874"/>
            <a:ext cx="735831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id-ID" b="1" dirty="0">
                <a:solidFill>
                  <a:schemeClr val="bg1"/>
                </a:solidFill>
              </a:rPr>
              <a:t>5 produk terlaris tahun 20</a:t>
            </a:r>
            <a:r>
              <a:rPr lang="en-US" b="1" dirty="0">
                <a:solidFill>
                  <a:schemeClr val="bg1"/>
                </a:solidFill>
              </a:rPr>
              <a:t>20</a:t>
            </a:r>
            <a:r>
              <a:rPr lang="id-ID" b="1" dirty="0">
                <a:solidFill>
                  <a:schemeClr val="bg1"/>
                </a:solidFill>
              </a:rPr>
              <a:t> </a:t>
            </a:r>
            <a:r>
              <a:rPr lang="id-ID" dirty="0">
                <a:solidFill>
                  <a:schemeClr val="bg1"/>
                </a:solidFill>
              </a:rPr>
              <a:t>adalah Jaket, Gaun Maxi, Gaun, Jeans, dan Rok.</a:t>
            </a:r>
            <a:endParaRPr lang="en-US" dirty="0">
              <a:solidFill>
                <a:schemeClr val="bg1"/>
              </a:solidFill>
            </a:endParaRPr>
          </a:p>
          <a:p>
            <a:pPr algn="just"/>
            <a:r>
              <a:rPr lang="id-ID" dirty="0">
                <a:solidFill>
                  <a:schemeClr val="bg1"/>
                </a:solidFill>
              </a:rPr>
              <a:t>Sementara itu, produk dengan penjualan terendah antara lain Syal, Kaos Olahraga, Topi, Ikat Pinggang, dan Kaus Kaki</a:t>
            </a:r>
            <a:r>
              <a:rPr lang="id-ID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416400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A1CC34D-6686-B1B0-06CD-B9DC76BB44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479" y="346393"/>
            <a:ext cx="5484300" cy="572700"/>
          </a:xfrm>
        </p:spPr>
        <p:txBody>
          <a:bodyPr>
            <a:normAutofit/>
          </a:bodyPr>
          <a:lstStyle/>
          <a:p>
            <a:pPr algn="ctr"/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Kesimpulan</a:t>
            </a:r>
            <a:endParaRPr lang="id-ID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A4694A-0BB7-72E6-9C30-07469EC02EF0}"/>
              </a:ext>
            </a:extLst>
          </p:cNvPr>
          <p:cNvSpPr txBox="1"/>
          <p:nvPr/>
        </p:nvSpPr>
        <p:spPr>
          <a:xfrm>
            <a:off x="776689" y="1091312"/>
            <a:ext cx="7832992" cy="2960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id-ID" dirty="0" err="1">
                <a:solidFill>
                  <a:schemeClr val="bg1"/>
                </a:solidFill>
              </a:rPr>
              <a:t>DQFashion</a:t>
            </a:r>
            <a:r>
              <a:rPr lang="id-ID" dirty="0">
                <a:solidFill>
                  <a:schemeClr val="bg1"/>
                </a:solidFill>
              </a:rPr>
              <a:t> saat ini hanya memiliki 4 cabang di Indonesia, yang berlokasi di </a:t>
            </a:r>
            <a:r>
              <a:rPr lang="en-US" dirty="0">
                <a:solidFill>
                  <a:schemeClr val="bg1"/>
                </a:solidFill>
              </a:rPr>
              <a:t>Bandung</a:t>
            </a:r>
            <a:r>
              <a:rPr lang="id-ID" dirty="0">
                <a:solidFill>
                  <a:schemeClr val="bg1"/>
                </a:solidFill>
              </a:rPr>
              <a:t>, </a:t>
            </a:r>
            <a:r>
              <a:rPr lang="en-US" dirty="0">
                <a:solidFill>
                  <a:schemeClr val="bg1"/>
                </a:solidFill>
              </a:rPr>
              <a:t>Jakarta</a:t>
            </a:r>
            <a:r>
              <a:rPr lang="id-ID" dirty="0">
                <a:solidFill>
                  <a:schemeClr val="bg1"/>
                </a:solidFill>
              </a:rPr>
              <a:t>, </a:t>
            </a:r>
            <a:r>
              <a:rPr lang="en-US" dirty="0">
                <a:solidFill>
                  <a:schemeClr val="bg1"/>
                </a:solidFill>
              </a:rPr>
              <a:t>Semarang</a:t>
            </a:r>
            <a:r>
              <a:rPr lang="id-ID" dirty="0">
                <a:solidFill>
                  <a:schemeClr val="bg1"/>
                </a:solidFill>
              </a:rPr>
              <a:t>, dan</a:t>
            </a:r>
            <a:r>
              <a:rPr lang="en-US" dirty="0">
                <a:solidFill>
                  <a:schemeClr val="bg1"/>
                </a:solidFill>
              </a:rPr>
              <a:t> Yogyakarta.</a:t>
            </a:r>
            <a:r>
              <a:rPr lang="id-ID" dirty="0">
                <a:solidFill>
                  <a:schemeClr val="bg1"/>
                </a:solidFill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d-ID" dirty="0">
                <a:solidFill>
                  <a:schemeClr val="bg1"/>
                </a:solidFill>
              </a:rPr>
              <a:t>Penjualan </a:t>
            </a:r>
            <a:r>
              <a:rPr lang="id-ID" dirty="0" err="1">
                <a:solidFill>
                  <a:schemeClr val="bg1"/>
                </a:solidFill>
              </a:rPr>
              <a:t>DQFashion</a:t>
            </a:r>
            <a:r>
              <a:rPr lang="id-ID" dirty="0">
                <a:solidFill>
                  <a:schemeClr val="bg1"/>
                </a:solidFill>
              </a:rPr>
              <a:t> di </a:t>
            </a:r>
            <a:r>
              <a:rPr lang="en-US" dirty="0">
                <a:solidFill>
                  <a:schemeClr val="bg1"/>
                </a:solidFill>
              </a:rPr>
              <a:t>Bandung</a:t>
            </a:r>
            <a:r>
              <a:rPr lang="id-ID" dirty="0">
                <a:solidFill>
                  <a:schemeClr val="bg1"/>
                </a:solidFill>
              </a:rPr>
              <a:t> merupakan yang terendah, dengan total pendapatan sebesar </a:t>
            </a:r>
            <a:r>
              <a:rPr lang="en-US" dirty="0">
                <a:solidFill>
                  <a:schemeClr val="bg1"/>
                </a:solidFill>
              </a:rPr>
              <a:t>16,3</a:t>
            </a:r>
            <a:r>
              <a:rPr lang="id-ID" dirty="0">
                <a:solidFill>
                  <a:schemeClr val="bg1"/>
                </a:solidFill>
              </a:rPr>
              <a:t> miliar Rupiah. Namun,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id-ID" dirty="0">
                <a:solidFill>
                  <a:schemeClr val="bg1"/>
                </a:solidFill>
              </a:rPr>
              <a:t>pendapatan ini masih sebanding dengan pendapatan cabang lainnya.</a:t>
            </a: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d-ID" dirty="0">
                <a:solidFill>
                  <a:schemeClr val="bg1"/>
                </a:solidFill>
              </a:rPr>
              <a:t>Produk dengan penjualan terendah di tahun 2</a:t>
            </a:r>
            <a:r>
              <a:rPr lang="en-US" dirty="0">
                <a:solidFill>
                  <a:schemeClr val="bg1"/>
                </a:solidFill>
              </a:rPr>
              <a:t>020</a:t>
            </a:r>
            <a:r>
              <a:rPr lang="id-ID" dirty="0">
                <a:solidFill>
                  <a:schemeClr val="bg1"/>
                </a:solidFill>
              </a:rPr>
              <a:t> adalah Kaus Kaki, dengan total pendapatan sebesar 2</a:t>
            </a:r>
            <a:r>
              <a:rPr lang="en-US" dirty="0">
                <a:solidFill>
                  <a:schemeClr val="bg1"/>
                </a:solidFill>
              </a:rPr>
              <a:t>35</a:t>
            </a:r>
            <a:r>
              <a:rPr lang="id-ID" dirty="0">
                <a:solidFill>
                  <a:schemeClr val="bg1"/>
                </a:solidFill>
              </a:rPr>
              <a:t> juta Rupiah.</a:t>
            </a: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d-ID" dirty="0">
                <a:solidFill>
                  <a:schemeClr val="bg1"/>
                </a:solidFill>
              </a:rPr>
              <a:t>Jaket mencatat penjualan tertinggi, kemungkinan karena musim hujan di Indonesia.</a:t>
            </a: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d-ID" dirty="0">
                <a:solidFill>
                  <a:schemeClr val="bg1"/>
                </a:solidFill>
              </a:rPr>
              <a:t>Penjualan tertinggi di tahun 2</a:t>
            </a:r>
            <a:r>
              <a:rPr lang="en-US" dirty="0">
                <a:solidFill>
                  <a:schemeClr val="bg1"/>
                </a:solidFill>
              </a:rPr>
              <a:t>020</a:t>
            </a:r>
            <a:r>
              <a:rPr lang="id-ID" dirty="0">
                <a:solidFill>
                  <a:schemeClr val="bg1"/>
                </a:solidFill>
              </a:rPr>
              <a:t> terjadi di bulan Juni.</a:t>
            </a:r>
          </a:p>
        </p:txBody>
      </p:sp>
    </p:spTree>
    <p:extLst>
      <p:ext uri="{BB962C8B-B14F-4D97-AF65-F5344CB8AC3E}">
        <p14:creationId xmlns:p14="http://schemas.microsoft.com/office/powerpoint/2010/main" val="3751409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76BB7A-B0AF-86FE-8777-F845A1D834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12E79A7-E4E9-3420-0A4D-9B937F3F10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479" y="346393"/>
            <a:ext cx="5484300" cy="572700"/>
          </a:xfrm>
        </p:spPr>
        <p:txBody>
          <a:bodyPr>
            <a:normAutofit/>
          </a:bodyPr>
          <a:lstStyle/>
          <a:p>
            <a:pPr algn="ctr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Kesimpulan</a:t>
            </a:r>
            <a:endParaRPr lang="id-ID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0C2479-A052-99BE-9104-7C829D59CF37}"/>
              </a:ext>
            </a:extLst>
          </p:cNvPr>
          <p:cNvSpPr txBox="1"/>
          <p:nvPr/>
        </p:nvSpPr>
        <p:spPr>
          <a:xfrm>
            <a:off x="842790" y="934511"/>
            <a:ext cx="7832992" cy="38625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id-ID" dirty="0">
                <a:solidFill>
                  <a:schemeClr val="bg1"/>
                </a:solidFill>
              </a:rPr>
              <a:t>1. Strategi </a:t>
            </a:r>
            <a:r>
              <a:rPr lang="en-US" dirty="0" err="1">
                <a:solidFill>
                  <a:schemeClr val="bg1"/>
                </a:solidFill>
              </a:rPr>
              <a:t>cabang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baru</a:t>
            </a:r>
            <a:r>
              <a:rPr lang="id-ID" dirty="0">
                <a:solidFill>
                  <a:schemeClr val="bg1"/>
                </a:solidFill>
              </a:rPr>
              <a:t>: </a:t>
            </a:r>
            <a:r>
              <a:rPr lang="id-ID" dirty="0" err="1">
                <a:solidFill>
                  <a:schemeClr val="bg1"/>
                </a:solidFill>
              </a:rPr>
              <a:t>DQFashion</a:t>
            </a:r>
            <a:r>
              <a:rPr lang="id-ID" dirty="0">
                <a:solidFill>
                  <a:schemeClr val="bg1"/>
                </a:solidFill>
              </a:rPr>
              <a:t> mempertimbangkan untuk menjajaki peluang ekspansi ke kota-kota besar atau wilayah lain dengan potensi pasar yang belum dimanfaatkan. Hal ini dapat membantu meningkatkan pendapatan dan kehadiran merek secara keseluruhan.</a:t>
            </a:r>
          </a:p>
          <a:p>
            <a:pPr algn="just">
              <a:lnSpc>
                <a:spcPct val="150000"/>
              </a:lnSpc>
            </a:pPr>
            <a:r>
              <a:rPr lang="id-ID" dirty="0">
                <a:solidFill>
                  <a:schemeClr val="bg1"/>
                </a:solidFill>
              </a:rPr>
              <a:t>2. </a:t>
            </a:r>
            <a:r>
              <a:rPr lang="en-US" dirty="0">
                <a:solidFill>
                  <a:schemeClr val="bg1"/>
                </a:solidFill>
              </a:rPr>
              <a:t>Strategi </a:t>
            </a:r>
            <a:r>
              <a:rPr lang="en-US" dirty="0" err="1">
                <a:solidFill>
                  <a:schemeClr val="bg1"/>
                </a:solidFill>
              </a:rPr>
              <a:t>pemasaran</a:t>
            </a:r>
            <a:r>
              <a:rPr lang="id-ID" dirty="0">
                <a:solidFill>
                  <a:schemeClr val="bg1"/>
                </a:solidFill>
              </a:rPr>
              <a:t> di </a:t>
            </a:r>
            <a:r>
              <a:rPr lang="en-US" dirty="0">
                <a:solidFill>
                  <a:schemeClr val="bg1"/>
                </a:solidFill>
              </a:rPr>
              <a:t>Bandung</a:t>
            </a:r>
            <a:r>
              <a:rPr lang="id-ID" dirty="0">
                <a:solidFill>
                  <a:schemeClr val="bg1"/>
                </a:solidFill>
              </a:rPr>
              <a:t>: Karena penjualan di </a:t>
            </a:r>
            <a:r>
              <a:rPr lang="en-US" dirty="0">
                <a:solidFill>
                  <a:schemeClr val="bg1"/>
                </a:solidFill>
              </a:rPr>
              <a:t>Bandung</a:t>
            </a:r>
            <a:r>
              <a:rPr lang="id-ID" dirty="0">
                <a:solidFill>
                  <a:schemeClr val="bg1"/>
                </a:solidFill>
              </a:rPr>
              <a:t> paling rendah tetapi masih proporsional, kampanye pemasaran dapat diterapkan untuk meningkatkan penjualan di lokasi ini. Pertimbangkan promosi, acara, atau kemitraan lokal untuk meningkatkan visibilitas merek dan keterlibatan pelanggan di </a:t>
            </a:r>
            <a:r>
              <a:rPr lang="en-US" dirty="0">
                <a:solidFill>
                  <a:schemeClr val="bg1"/>
                </a:solidFill>
              </a:rPr>
              <a:t>Bandung</a:t>
            </a:r>
            <a:r>
              <a:rPr lang="id-ID" dirty="0">
                <a:solidFill>
                  <a:schemeClr val="bg1"/>
                </a:solidFill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id-ID" dirty="0">
                <a:solidFill>
                  <a:schemeClr val="bg1"/>
                </a:solidFill>
              </a:rPr>
              <a:t>3. </a:t>
            </a:r>
            <a:r>
              <a:rPr lang="en-US" dirty="0" err="1">
                <a:solidFill>
                  <a:schemeClr val="bg1"/>
                </a:solidFill>
              </a:rPr>
              <a:t>Membuat</a:t>
            </a:r>
            <a:r>
              <a:rPr lang="en-US" dirty="0">
                <a:solidFill>
                  <a:schemeClr val="bg1"/>
                </a:solidFill>
              </a:rPr>
              <a:t> strategi </a:t>
            </a:r>
            <a:r>
              <a:rPr lang="en-US" dirty="0" err="1">
                <a:solidFill>
                  <a:schemeClr val="bg1"/>
                </a:solidFill>
              </a:rPr>
              <a:t>untuk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produk</a:t>
            </a:r>
            <a:r>
              <a:rPr lang="en-US" dirty="0">
                <a:solidFill>
                  <a:schemeClr val="bg1"/>
                </a:solidFill>
              </a:rPr>
              <a:t> yang </a:t>
            </a:r>
            <a:r>
              <a:rPr lang="en-US" dirty="0" err="1">
                <a:solidFill>
                  <a:schemeClr val="bg1"/>
                </a:solidFill>
              </a:rPr>
              <a:t>penjualan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rendah</a:t>
            </a:r>
            <a:r>
              <a:rPr lang="id-ID" dirty="0">
                <a:solidFill>
                  <a:schemeClr val="bg1"/>
                </a:solidFill>
              </a:rPr>
              <a:t>: </a:t>
            </a:r>
            <a:r>
              <a:rPr lang="en-US" dirty="0">
                <a:solidFill>
                  <a:schemeClr val="bg1"/>
                </a:solidFill>
              </a:rPr>
              <a:t>r</a:t>
            </a:r>
            <a:r>
              <a:rPr lang="id-ID" dirty="0" err="1">
                <a:solidFill>
                  <a:schemeClr val="bg1"/>
                </a:solidFill>
              </a:rPr>
              <a:t>endahnya</a:t>
            </a:r>
            <a:r>
              <a:rPr lang="id-ID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penjualan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dari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produk</a:t>
            </a:r>
            <a:r>
              <a:rPr lang="en-US" dirty="0">
                <a:solidFill>
                  <a:schemeClr val="bg1"/>
                </a:solidFill>
              </a:rPr>
              <a:t> k</a:t>
            </a:r>
            <a:r>
              <a:rPr lang="id-ID" dirty="0">
                <a:solidFill>
                  <a:schemeClr val="bg1"/>
                </a:solidFill>
              </a:rPr>
              <a:t>aus </a:t>
            </a:r>
            <a:r>
              <a:rPr lang="en-US" dirty="0">
                <a:solidFill>
                  <a:schemeClr val="bg1"/>
                </a:solidFill>
              </a:rPr>
              <a:t>k</a:t>
            </a:r>
            <a:r>
              <a:rPr lang="id-ID" dirty="0">
                <a:solidFill>
                  <a:schemeClr val="bg1"/>
                </a:solidFill>
              </a:rPr>
              <a:t>aki menunjukkan perlunya </a:t>
            </a:r>
            <a:r>
              <a:rPr lang="en-US" dirty="0" err="1">
                <a:solidFill>
                  <a:schemeClr val="bg1"/>
                </a:solidFill>
              </a:rPr>
              <a:t>teknik</a:t>
            </a:r>
            <a:r>
              <a:rPr lang="en-US" dirty="0">
                <a:solidFill>
                  <a:schemeClr val="bg1"/>
                </a:solidFill>
              </a:rPr>
              <a:t> marketing </a:t>
            </a:r>
            <a:r>
              <a:rPr lang="en-US" dirty="0" err="1">
                <a:solidFill>
                  <a:schemeClr val="bg1"/>
                </a:solidFill>
              </a:rPr>
              <a:t>untuk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meningkatkan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penjualan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id-ID" dirty="0">
                <a:solidFill>
                  <a:schemeClr val="bg1"/>
                </a:solidFill>
              </a:rPr>
              <a:t>kategori produk ini.</a:t>
            </a:r>
          </a:p>
          <a:p>
            <a:pPr algn="just">
              <a:lnSpc>
                <a:spcPct val="150000"/>
              </a:lnSpc>
            </a:pPr>
            <a:r>
              <a:rPr lang="id-ID" dirty="0">
                <a:solidFill>
                  <a:schemeClr val="bg1"/>
                </a:solidFill>
              </a:rPr>
              <a:t>Pertimbangkan untuk menghentikan penjualan produk yang kinerjanya rendah, menyesuaikan harga, atau membuat penawaran paket untuk meningkatkan daya tariknya.</a:t>
            </a:r>
          </a:p>
          <a:p>
            <a:pPr algn="just"/>
            <a:endParaRPr lang="id-ID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30080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CCAC649-F1F5-7E11-BAD5-5F3A0DD5E99B}"/>
              </a:ext>
            </a:extLst>
          </p:cNvPr>
          <p:cNvSpPr txBox="1"/>
          <p:nvPr/>
        </p:nvSpPr>
        <p:spPr>
          <a:xfrm>
            <a:off x="176271" y="3580481"/>
            <a:ext cx="264404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61701"/>
                </a:solidFill>
              </a:rPr>
              <a:t>Gulang Taufiqurrohman KYP</a:t>
            </a:r>
          </a:p>
          <a:p>
            <a:endParaRPr lang="en-US" sz="1200" dirty="0"/>
          </a:p>
          <a:p>
            <a:r>
              <a:rPr lang="en-US" sz="1200" dirty="0">
                <a:hlinkClick r:id="rId2"/>
              </a:rPr>
              <a:t>gulangyudha@gmail.com</a:t>
            </a:r>
            <a:endParaRPr lang="en-US" sz="1200" dirty="0"/>
          </a:p>
          <a:p>
            <a:r>
              <a:rPr lang="id-ID" sz="1200" dirty="0"/>
              <a:t>https://www.linkedin.com/in/gulang-taufiqurrohman-276242198/</a:t>
            </a:r>
          </a:p>
        </p:txBody>
      </p:sp>
    </p:spTree>
    <p:extLst>
      <p:ext uri="{BB962C8B-B14F-4D97-AF65-F5344CB8AC3E}">
        <p14:creationId xmlns:p14="http://schemas.microsoft.com/office/powerpoint/2010/main" val="1715673753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350</TotalTime>
  <Words>644</Words>
  <Application>Microsoft Office PowerPoint</Application>
  <PresentationFormat>On-screen Show (16:9)</PresentationFormat>
  <Paragraphs>57</Paragraphs>
  <Slides>11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Times New Roman</vt:lpstr>
      <vt:lpstr>Poppins</vt:lpstr>
      <vt:lpstr>Arial</vt:lpstr>
      <vt:lpstr>Poppins SemiBold</vt:lpstr>
      <vt:lpstr>Simple Light</vt:lpstr>
      <vt:lpstr>Worksheet</vt:lpstr>
      <vt:lpstr>PowerPoint Presentation</vt:lpstr>
      <vt:lpstr>Overview Dqlab Fashion</vt:lpstr>
      <vt:lpstr>Latar Belakang</vt:lpstr>
      <vt:lpstr>Dataset terdiri dari 4 tabel master/lookup dan 1 tabel data yaitu :  1. Master Cabang,  2. Master Produk,  3. Kategori, 4. Transaksi Penjualan.</vt:lpstr>
      <vt:lpstr>PowerPoint Presentation</vt:lpstr>
      <vt:lpstr>Dashboard DQFashion 2020</vt:lpstr>
      <vt:lpstr>PowerPoint Presentation</vt:lpstr>
      <vt:lpstr>PowerPoint Presentation</vt:lpstr>
      <vt:lpstr>Kesimpulan</vt:lpstr>
      <vt:lpstr>Kesimpulan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Gulang Taufiqurrohman</cp:lastModifiedBy>
  <cp:revision>11</cp:revision>
  <dcterms:modified xsi:type="dcterms:W3CDTF">2025-11-14T11:21:10Z</dcterms:modified>
</cp:coreProperties>
</file>